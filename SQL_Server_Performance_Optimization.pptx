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F2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2962FF"/>
                </a:solidFill>
              </a:defRPr>
            </a:pPr>
            <a:r>
              <a:t>SQL Server Performance Optimization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38328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424242"/>
                </a:solidFill>
              </a:defRPr>
            </a:pPr>
            <a:r>
              <a:t>Indexes, Execution Plans, and Query Optimization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64B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Today's Topics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1. Index Structures and Maintenance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2. Reading and Optimizing Execution Plans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3. Advanced Index Techniques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4. Query Processing Order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5. Implicit Conversions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6. Query Anti-Patterns to Avoid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7. Query Best Practices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8. Table-Valued Functions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9. Parameter Sniffing Solutions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64B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Index Storage Structures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Heap Tables: No clustered index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Fast inserts, slow reads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Best for staging tables, small lookup tables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B+-Tree: SQL Server's index implementation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All data stored in leaf nodes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3-4 levels for millions of rows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Efficient range scans via linked leaf nodes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Better cache utilization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64B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How B+-Tree Indexes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Structure: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Root node at top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Intermediate nodes (keys and pointers only)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Leaf nodes (all data, doubly-linked)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Key advantages: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Balanced structure (all paths same length)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Sequential access at leaf level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Typical depth: 3-4 levels for millions of rows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64B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Understanding Index Fragmentation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Logical Fragmentation: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Pages not physically sequential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Measured: avg_fragmentation_in_percent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Causes: INSERTs, UPDATEs, DELETEs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Impact: More physical I/O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Page Density: avg_page_space_used_in_percent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Low density = wasted space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High density = good utilization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64B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Index Maintenance Strategies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Decision Matrix: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&lt; 10% fragmentation: Do Nothing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10-30% fragmentation: REORGANIZE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&gt; 30% fragmentation: REBUILD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REORGANIZE: Online, minimal locks, compacts pages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REBUILD: Complete defrag, updates statistics, needs space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64B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DEMO: Index Fragmentation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What we'll show: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Check fragmentation levels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Create fragmentation through random inserts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Compare Rebuild vs. Reorganize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Show performance improvement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DMV: sys.dm_db_index_physical_stats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64B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Reading Execution Plans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Direction: Right to left, top to bottom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Thick arrows: More rows flowing through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Color coding: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Black/Blue: Normal operation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Yellow triangle: Warnings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Relative cost: Resource consumption percentages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Focus on: Highest cost operators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64B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Common Execution Plan Operators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Scans (Read everything):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Table Scan, Index Scan, Clustered Index Scan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Seeks (Targeted read - GOOD):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Index Seek, Clustered Index Seek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Joins: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Nested Loop (small datasets)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Hash Match (large unsorted data)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Merge Join (large sorted data)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Key Lookup: Additional data retrieval (often costly)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64B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Interpreting Plan Warnings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Yellow exclamation marks indicate: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Implicit type conversions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Missing statistics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Excessive memory grants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Spills to tempdb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Missing Index hints (green text):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Take with caution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Evaluate cost vs. benefit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May suggest too many indexes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64B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How to Optimize Based on Plans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1. Eliminate Scans → Add appropriate indexes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2. Reduce Key Lookups → Covering indexes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3. Avoid Sorts → Index matches ORDER BY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4. Fix Conversions → Match data types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5. Update Statistics → Accurate cardinality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6. Rewrite Logic → Sometimes better than indexes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64B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DEMO: Execution Plans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What we'll demonstrate: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Compare Scan vs. Seek performance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Show Key Lookup overhead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Different JOIN operators in action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Fix a slow query using execution plan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Before/After metrics (IO, time)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64B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Clustered vs. Nonclustered Indexes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Clustered Index: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Determines physical row order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One per table, leaf level = actual data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Choose: Narrow, unique, static, increasing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Nonclustered Index: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Separate structure from data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Up to 999 per table (don't!)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Leaf level = key + bookmark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Overhead on INSERT/UPDATE/DELETE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64B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Covering Indexes with INCLUDE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424242"/>
                </a:solidFill>
              </a:defRPr>
            </a:pPr>
            <a:r>
              <a:t>Benefits: Query satisfied from index, no bookmark lookup needed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7863840" cy="4023360"/>
          </a:xfrm>
          <a:prstGeom prst="rect">
            <a:avLst/>
          </a:prstGeom>
          <a:solidFill>
            <a:srgbClr val="F5F5F5"/>
          </a:solidFill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CREATE NONCLUSTERED INDEX IX_Example</a:t>
            </a:r>
          </a:p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ON Orders (CustomerID, OrderDate)</a:t>
            </a:r>
          </a:p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INCLUDE (Amount, Status);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64B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Indexes on Subsets of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424242"/>
                </a:solidFill>
              </a:defRPr>
            </a:pPr>
            <a:r>
              <a:t>Use for: Sparse columns, status-based filtering, current year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7863840" cy="4023360"/>
          </a:xfrm>
          <a:prstGeom prst="rect">
            <a:avLst/>
          </a:prstGeom>
          <a:solidFill>
            <a:srgbClr val="F5F5F5"/>
          </a:solidFill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CREATE NONCLUSTERED INDEX IX_ActiveOrders</a:t>
            </a:r>
          </a:p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ON Orders (OrderDate, CustomerID)</a:t>
            </a:r>
          </a:p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WHERE Status = 'Active';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64B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DEMO: Index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What we'll show: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Create covering index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Eliminate Key Lookups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Filtered index benefits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Compare index sizes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Index usage statistics (DMVs)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64B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Logical Query Processing Order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1. FROM (including JOINs)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2. WHERE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3. GROUP BY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4. HAVING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5. SELECT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6. DISTINCT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7. ORDER BY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8. TOP / OFFSET-FETCH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Key Point: Logical ≠ Physical execution order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64B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Common Mistakes - Processing Order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424242"/>
                </a:solidFill>
              </a:defRPr>
            </a:pPr>
            <a:r>
              <a:t>Why? WHERE executes before SELECT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7863840" cy="4023360"/>
          </a:xfrm>
          <a:prstGeom prst="rect">
            <a:avLst/>
          </a:prstGeom>
          <a:solidFill>
            <a:srgbClr val="F5F5F5"/>
          </a:solidFill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-- WRONG</a:t>
            </a:r>
          </a:p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SELECT Price * Quantity AS Total</a:t>
            </a:r>
          </a:p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FROM Orders</a:t>
            </a:r>
          </a:p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WHERE Total &gt; 1000;  -- Error!</a:t>
            </a:r>
          </a:p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</a:p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-- CORRECT</a:t>
            </a:r>
          </a:p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SELECT Price * Quantity AS Total</a:t>
            </a:r>
          </a:p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FROM Orders</a:t>
            </a:r>
          </a:p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WHERE Price * Quantity &gt; 1000;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64B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Filter Early with WHERE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424242"/>
                </a:solidFill>
              </a:defRPr>
            </a:pPr>
            <a:r>
              <a:t>WHERE: Before aggregation (efficient) | HAVING: After aggregation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7863840" cy="4023360"/>
          </a:xfrm>
          <a:prstGeom prst="rect">
            <a:avLst/>
          </a:prstGeom>
          <a:solidFill>
            <a:srgbClr val="F5F5F5"/>
          </a:solidFill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SELECT CustomerID, COUNT(*) AS OrderCount</a:t>
            </a:r>
          </a:p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FROM Orders</a:t>
            </a:r>
          </a:p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WHERE OrderDate &gt;= '2024-01-01'  -- Filter early</a:t>
            </a:r>
          </a:p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GROUP BY CustomerID</a:t>
            </a:r>
          </a:p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HAVING COUNT(*) &gt; 5;  -- Filter groups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64B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The Hidden Performance Killer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424242"/>
                </a:solidFill>
              </a:defRPr>
            </a:pPr>
            <a:r>
              <a:t>Problem: Auto-conversion prevents index usage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7863840" cy="4023360"/>
          </a:xfrm>
          <a:prstGeom prst="rect">
            <a:avLst/>
          </a:prstGeom>
          <a:solidFill>
            <a:srgbClr val="F5F5F5"/>
          </a:solidFill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-- BAD: NVARCHAR literal on VARCHAR column</a:t>
            </a:r>
          </a:p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WHERE Username = N'john'  -- Index scan</a:t>
            </a:r>
          </a:p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</a:p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-- GOOD: Matching types</a:t>
            </a:r>
          </a:p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WHERE Username = 'john'   -- Index seek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64B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Where Conversions Hide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1. VARCHAR vs NVARCHAR: N prefix on literals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2. Numeric precision: INT vs DECIMAL/FLOAT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3. JOIN mismatches: INT vs BIGINT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4. Date functions: CONVERT(DATE, column)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Impact: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Index seeks become scans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CPU overhead, inaccurate cardinality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Potential query timeouts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64B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DEMO: Implicit Conversions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What we'll demonstrate: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Show conversion warning in plan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Performance comparison: with vs without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Fix JOIN type mismatch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DMV query to find conversions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Before/After logical reads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64B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Worst Patterns That Kill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1. Functions on columns in WHERE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2. Leading wildcards in LIKE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3. OR across different columns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4. RBAR (Row-By-Agonizing-Row)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5. SELECT *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6. NOT IN with NULLs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7. Correlated subqueries in SELECT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64B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Anti-Pattern: Functions in WHERE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424242"/>
                </a:solidFill>
              </a:defRPr>
            </a:pPr>
            <a:r>
              <a:t>Result: Index Seek instead of Scan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7863840" cy="4023360"/>
          </a:xfrm>
          <a:prstGeom prst="rect">
            <a:avLst/>
          </a:prstGeom>
          <a:solidFill>
            <a:srgbClr val="F5F5F5"/>
          </a:solidFill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-- BAD</a:t>
            </a:r>
          </a:p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WHERE YEAR(OrderDate) = 2024</a:t>
            </a:r>
          </a:p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WHERE UPPER(LastName) = 'SMITH'</a:t>
            </a:r>
          </a:p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</a:p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-- GOOD (Sargable)</a:t>
            </a:r>
          </a:p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WHERE OrderDate &gt;= '2024-01-01' </a:t>
            </a:r>
          </a:p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  AND OrderDate &lt; '2025-01-01'</a:t>
            </a:r>
          </a:p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WHERE LastName = 'Smith'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64B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Anti-Pattern: Row-By-Agonizing-Row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424242"/>
                </a:solidFill>
              </a:defRPr>
            </a:pPr>
            <a:r>
              <a:t>Set-based operations are orders of magnitude faster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7863840" cy="4023360"/>
          </a:xfrm>
          <a:prstGeom prst="rect">
            <a:avLst/>
          </a:prstGeom>
          <a:solidFill>
            <a:srgbClr val="F5F5F5"/>
          </a:solidFill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-- BAD: Cursors</a:t>
            </a:r>
          </a:p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DECLARE cur CURSOR FOR SELECT CustomerID...</a:t>
            </a:r>
          </a:p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WHILE @@FETCH_STATUS = 0</a:t>
            </a:r>
          </a:p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BEGIN</a:t>
            </a:r>
          </a:p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    UPDATE Orders SET Status = 'Processed' ...</a:t>
            </a:r>
          </a:p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END</a:t>
            </a:r>
          </a:p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</a:p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-- GOOD: Set-based</a:t>
            </a:r>
          </a:p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UPDATE Orders SET Status = 'Processed'</a:t>
            </a:r>
          </a:p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FROM Orders O</a:t>
            </a:r>
          </a:p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JOIN Customers C ON O.CustomerID = C.CustomerID;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64B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DEMO: Anti-Patterns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What we'll show: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Function in WHERE: Before/After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RBAR vs Set-based comparison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SELECT * vs specific columns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NOT IN vs NOT EXISTS with NULLs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Execution time differences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64B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Query Best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1. Filter early and often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2. EXISTS vs IN (EXISTS stops at first match)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3. CTEs for readability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4. Window functions vs self-joins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5. CROSS APPLY for top N per group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6. Batch updates for large data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7. Covering indexes with INCLUDE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64B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Best Practice: Common Table Expressions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424242"/>
                </a:solidFill>
              </a:defRPr>
            </a:pPr>
            <a:r>
              <a:t>Benefits: Readable, maintainable, easier debugging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7863840" cy="4023360"/>
          </a:xfrm>
          <a:prstGeom prst="rect">
            <a:avLst/>
          </a:prstGeom>
          <a:solidFill>
            <a:srgbClr val="F5F5F5"/>
          </a:solidFill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WITH ActiveCustomers AS (</a:t>
            </a:r>
          </a:p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    SELECT CustomerID, CustomerName</a:t>
            </a:r>
          </a:p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    FROM Customers WHERE Status = 'Active'</a:t>
            </a:r>
          </a:p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),</a:t>
            </a:r>
          </a:p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RecentOrders AS (</a:t>
            </a:r>
          </a:p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    SELECT CustomerID, OrderDate, Amount</a:t>
            </a:r>
          </a:p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    FROM Orders</a:t>
            </a:r>
          </a:p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    WHERE OrderDate &gt;= DATEADD(MONTH, -3, GETDATE())</a:t>
            </a:r>
          </a:p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)</a:t>
            </a:r>
          </a:p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SELECT AC.CustomerName, COUNT(*) AS OrderCount</a:t>
            </a:r>
          </a:p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FROM ActiveCustomers AC</a:t>
            </a:r>
          </a:p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JOIN RecentOrders RO ON AC.CustomerID = RO.CustomerID</a:t>
            </a:r>
          </a:p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GROUP BY AC.CustomerName;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64B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Best Practice: Window Functions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424242"/>
                </a:solidFill>
              </a:defRPr>
            </a:pPr>
            <a:r>
              <a:t>Single pass vs multiple self-joins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7863840" cy="4023360"/>
          </a:xfrm>
          <a:prstGeom prst="rect">
            <a:avLst/>
          </a:prstGeom>
          <a:solidFill>
            <a:srgbClr val="F5F5F5"/>
          </a:solidFill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-- OLD (Slow)</a:t>
            </a:r>
          </a:p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SELECT OrderDate, </a:t>
            </a:r>
          </a:p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  (SELECT SUM(Amount) FROM Orders O2 </a:t>
            </a:r>
          </a:p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   WHERE O2.OrderDate &lt;= O1.OrderDate) AS RunningTotal</a:t>
            </a:r>
          </a:p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FROM Orders O1;</a:t>
            </a:r>
          </a:p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</a:p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-- BETTER (Fast)</a:t>
            </a:r>
          </a:p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SELECT OrderDate,</a:t>
            </a:r>
          </a:p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  SUM(Amount) OVER (ORDER BY OrderDate </a:t>
            </a:r>
          </a:p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    ROWS UNBOUNDED PRECEDING) AS RunningTotal</a:t>
            </a:r>
          </a:p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FROM Orders;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64B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DEMO: Best Practices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What we'll demonstrate: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CTE readability example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Window function performance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CROSS APPLY for top N per group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Batch update vs single update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Covering index benefits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64B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Table-Valued Functions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Inline TVF: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Excellent performance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Fully optimized by query processor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Accurate cardinality, supports parallelism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Use: Almost always!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Multi-Statement TVF: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Poor performance (black box)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Fixed cardinality estimate (100 rows)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No parallelism, no statistics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Use: Only if procedural logic required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64B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The Right Way: Inline TVFs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424242"/>
                </a:solidFill>
              </a:defRPr>
            </a:pPr>
            <a:r>
              <a:t>Acts like a parameterized view - optimizer can see through it!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7863840" cy="4023360"/>
          </a:xfrm>
          <a:prstGeom prst="rect">
            <a:avLst/>
          </a:prstGeom>
          <a:solidFill>
            <a:srgbClr val="F5F5F5"/>
          </a:solidFill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CREATE FUNCTION dbo.GetCustomerOrders(@CustomerID INT)</a:t>
            </a:r>
          </a:p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RETURNS TABLE</a:t>
            </a:r>
          </a:p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AS</a:t>
            </a:r>
          </a:p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RETURN</a:t>
            </a:r>
          </a:p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(</a:t>
            </a:r>
          </a:p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    SELECT OrderID, OrderDate, Amount</a:t>
            </a:r>
          </a:p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    FROM Orders</a:t>
            </a:r>
          </a:p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    WHERE CustomerID = @CustomerID</a:t>
            </a:r>
          </a:p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);</a:t>
            </a:r>
          </a:p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</a:p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-- Usage</a:t>
            </a:r>
          </a:p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SELECT * FROM dbo.GetCustomerOrders(123);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64B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DEMO: Table-Valued Functions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What we'll show: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Create inline TVF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Create multi-statement TVF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Performance comparison (same logic)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Execution plan differences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Scalar UDF anti-pattern (avoid!)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64B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What is Parameter Sniffing?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SQL Server behavior: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Compiles proc with first parameter values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Plan cached and reused for all executions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The Good: Efficient plan reuse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The Bad: Plan optimal for first, terrible for others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Example: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First: @Status = 'Pending' (1000 rows) → Scan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Second: @Status = 'Cancelled' (3 rows) → Uses Scan!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64B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Detecting Parameter Sniffing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Symptoms: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Same procedure fast sometimes, slow others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Performance varies with parameter values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Same plan for different row counts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Detection methods: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Execution plan: same shape for different params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DMV: sys.dm_exec_query_stats (variance)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Extended Events: parameter_sensitive_plan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64B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Parameter Sniffing Solutions (1/2)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424242"/>
                </a:solidFill>
              </a:defRPr>
            </a:pPr>
            <a:r>
              <a:t>Choose based on your data distribution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7863840" cy="4023360"/>
          </a:xfrm>
          <a:prstGeom prst="rect">
            <a:avLst/>
          </a:prstGeom>
          <a:solidFill>
            <a:srgbClr val="F5F5F5"/>
          </a:solidFill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-- 1. OPTIMIZE FOR hint</a:t>
            </a:r>
          </a:p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OPTION (OPTIMIZE FOR (@Status = 'Pending'))</a:t>
            </a:r>
          </a:p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-- Use when: One value is 90%+ of calls</a:t>
            </a:r>
          </a:p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</a:p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-- 2. OPTIMIZE FOR UNKNOWN</a:t>
            </a:r>
          </a:p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OPTION (OPTIMIZE FOR UNKNOWN)</a:t>
            </a:r>
          </a:p>
          <a:p>
            <a:pPr>
              <a:defRPr sz="1200">
                <a:solidFill>
                  <a:srgbClr val="424242"/>
                </a:solidFill>
                <a:latin typeface="Consolas"/>
              </a:defRPr>
            </a:pPr>
            <a:r>
              <a:t>-- Use when: Even distribution of values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64B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Parameter Sniffing Solutions (2/2)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3. RECOMPILE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WITH RECOMPILE or OPTION (RECOMPILE)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Use: High sensitivity, low frequency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4. Local variable copy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DECLARE @Local = @Parameter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5. Dynamic SQL (fresh plan each time)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6. Multiple procedures (branch logic)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7. SQL 2022: Parameter Sensitive Plans (PSP) - Automatic!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64B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Choosing the Right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Decision Matrix: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One value dominates (90%+) → OPTIMIZE FOR value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Even distribution → OPTIMIZE FOR UNKNOWN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Extreme sensitivity → RECOMPILE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Ad-hoc reporting → Dynamic SQL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SQL Server 2022+ → Enable PSP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SQL 2022 PSP: Automatically detects and creates multiple plans!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64B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DEMO: Parameter Sniffing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What we'll demonstrate: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Show problem: Same plan, different data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OPTIMIZE FOR solution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OPTIMIZE FOR UNKNOWN comparison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RECOMPILE overhead measurement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Performance metrics comparison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64B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Key Performance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Always monitor: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Logical reads (SET STATISTICS IO)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CPU time vs Elapsed time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Execution plan warnings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Index fragmentation percentage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Plan cache reuse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Essential DMVs: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sys.dm_db_index_physical_stats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sys.dm_exec_query_stats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sys.dm_db_index_usage_stats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64B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Common Interview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1. When use clustered vs nonclustered index?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2. How identify a missing index?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3. Difference between REBUILD and REORGANIZE?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4. How implicit conversions affect performance?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5. When use a filtered index?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6. What is parameter sniffing and solutions?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7. What makes a query 'sargable'?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64B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Key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✓ Monitor fragmentation - Rebuild &gt; 30%, Reorganize 10-30%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✓ Read execution plans - Focus on scans, lookups, warnings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✓ Use covering indexes - INCLUDE for non-key columns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✓ Filter early - WHERE before joins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✓ Avoid functions on columns - Use sargable predicates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✓ Prefer inline TVFs - Never scalar UDFs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✓ Match data types - Prevent implicit conversions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✓ Handle parameter sniffing - Choose appropriate solution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64B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Tools and Resources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Tools: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SQL Server Management Studio (SSMS)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Extended Events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Database Tuning Advisor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Query Store (SQL 2016+)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Documentation: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Microsoft SQL Server Docs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Execution Plan Reference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Index Design Guide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64B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Hands-On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Demo Code Repository: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All demo scripts available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9 comprehensive SQL files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Sample database creation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Performance comparison examples</a:t>
            </a:r>
          </a:p>
          <a:p>
            <a:pPr lvl="1">
              <a:spcBef>
                <a:spcPts val="600"/>
              </a:spcBef>
              <a:defRPr sz="1400">
                <a:solidFill>
                  <a:srgbClr val="424242"/>
                </a:solidFill>
              </a:defRPr>
            </a:pPr>
            <a:r>
              <a:t>README with setup instructions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Database: PerformanceDemo</a:t>
            </a:r>
          </a:p>
          <a:p>
            <a:pPr>
              <a:spcBef>
                <a:spcPts val="600"/>
              </a:spcBef>
              <a:defRPr sz="1600">
                <a:solidFill>
                  <a:srgbClr val="424242"/>
                </a:solidFill>
              </a:defRPr>
            </a:pPr>
            <a:r>
              <a:t>Files: 01-09 covering all topics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4B5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2286000"/>
            <a:ext cx="5486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Questions?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840480"/>
            <a:ext cx="5486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t>Open Discussion • Real-World Scenarios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62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828800"/>
            <a:ext cx="6400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Thank You!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200400"/>
            <a:ext cx="6400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Performance optimization is an ongoing process:</a:t>
            </a:r>
          </a:p>
          <a:p>
            <a:pPr algn="ctr">
              <a:defRPr sz="1800">
                <a:solidFill>
                  <a:srgbClr val="FFFFFF"/>
                </a:solidFill>
              </a:defRPr>
            </a:pPr>
            <a:r>
              <a:t>Monitor • Test • Update Statistics • Review Plans</a:t>
            </a:r>
          </a:p>
          <a:p>
            <a:pPr algn="ctr">
              <a:defRPr sz="1800">
                <a:solidFill>
                  <a:srgbClr val="FFFFFF"/>
                </a:solidFill>
              </a:defRPr>
            </a:pPr>
          </a:p>
          <a:p>
            <a:pPr algn="ctr">
              <a:defRPr sz="1800">
                <a:solidFill>
                  <a:srgbClr val="FFFFFF"/>
                </a:solidFill>
              </a:defRPr>
            </a:pPr>
            <a:r>
              <a:t>The best optimization solves YOUR specific problem!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