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209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962FF"/>
                </a:solidFill>
              </a:defRPr>
            </a:pPr>
            <a:r>
              <a:t>SQL Server Performance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424242"/>
                </a:solidFill>
              </a:defRPr>
            </a:pPr>
            <a:r>
              <a:t>Indexes, Execution Plans, and Query Optimization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Today's Topics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rPr lang="en-US" b="1" dirty="0"/>
              <a:t>Today’s topics</a:t>
            </a:r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rPr dirty="0"/>
              <a:t>1. Index Structures and Maintenance</a:t>
            </a:r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rPr dirty="0"/>
              <a:t>2. Reading and Optimizing Execution Plans</a:t>
            </a:r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rPr dirty="0"/>
              <a:t>3. Advanced Index Techniques</a:t>
            </a:r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rPr dirty="0"/>
              <a:t>4. Query Processing Order</a:t>
            </a:r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rPr dirty="0"/>
              <a:t>5. Implicit Conversions</a:t>
            </a:r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rPr dirty="0"/>
              <a:t>6. Query Anti-Patterns to Avoid</a:t>
            </a:r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rPr dirty="0"/>
              <a:t>7. Query Best Practices</a:t>
            </a:r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rPr dirty="0"/>
              <a:t>8. Table-Valued Functions</a:t>
            </a:r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endParaRPr lang="en-US" dirty="0"/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rPr lang="en-US" b="1" dirty="0"/>
              <a:t>Next week’s topics</a:t>
            </a:r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rPr lang="en-US" dirty="0"/>
              <a:t>9. Parameter Sniffing</a:t>
            </a:r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rPr lang="en-US" dirty="0"/>
              <a:t>10. Parameter Sniffing Solutions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Index Storage Structures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rPr dirty="0"/>
              <a:t>Heap Tables: No clustered index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rPr dirty="0"/>
              <a:t>Fast inserts, slow reads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rPr dirty="0"/>
              <a:t>Best for staging tables, small lookup tables</a:t>
            </a:r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rPr dirty="0"/>
              <a:t>B-Tree: </a:t>
            </a:r>
            <a:r>
              <a:rPr lang="en-US" dirty="0"/>
              <a:t>Default </a:t>
            </a:r>
            <a:r>
              <a:rPr lang="it-IT" dirty="0"/>
              <a:t>index </a:t>
            </a:r>
            <a:r>
              <a:rPr lang="it-IT" dirty="0" err="1"/>
              <a:t>implementation</a:t>
            </a:r>
            <a:r>
              <a:rPr lang="it-IT" dirty="0"/>
              <a:t> for </a:t>
            </a:r>
            <a:r>
              <a:rPr dirty="0"/>
              <a:t>SQL Server</a:t>
            </a:r>
            <a:r>
              <a:rPr lang="en-US" dirty="0"/>
              <a:t> / PostgreSQL / Oracle / MongoDB</a:t>
            </a:r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rPr lang="en-US" dirty="0" err="1"/>
              <a:t>B+Tree</a:t>
            </a:r>
            <a:r>
              <a:rPr lang="en-US" dirty="0"/>
              <a:t>: Default index implementation for MySQL / MariaDB / DB2 / SQLite</a:t>
            </a:r>
            <a:endParaRPr dirty="0"/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rPr dirty="0"/>
              <a:t>All data stored in leaf nodes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rPr dirty="0"/>
              <a:t>3-4 levels for millions of rows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rPr dirty="0"/>
              <a:t>Efficient range scans via linked leaf nodes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rPr dirty="0"/>
              <a:t>Better cache utilization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How B+-Tree Indexes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t>Structure: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Root node at top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Intermediate nodes (keys and pointers only)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Leaf nodes (all data, doubly-linked)</a:t>
            </a:r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endParaRPr/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t>Key advantages: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Balanced structure (all paths same length)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Sequential access at leaf level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Typical depth: 3-4 levels for millions of rows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Understanding Index Fragmentation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t>Logical Fragmentation: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Pages not physically sequential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Measured: avg_fragmentation_in_percent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Causes: INSERTs, UPDATEs, DELETEs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Impact: More physical I/O</a:t>
            </a:r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endParaRPr/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t>Page Density: avg_page_space_used_in_percent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Low density = wasted space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High density = good utilization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Index Maintenance Strategies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t>Decision Matrix: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&lt; 10% fragmentation: Do Nothing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10-30% fragmentation: REORGANIZE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&gt; 30% fragmentation: REBUILD</a:t>
            </a:r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endParaRPr/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t>REORGANIZE: Online, minimal locks, compacts pages</a:t>
            </a:r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t>REBUILD: Complete defrag, updates statistics, needs space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DEMO: Index Fragmentation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t>What we'll show: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Check fragmentation levels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Create fragmentation through random inserts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Compare Rebuild vs. Reorganize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Show performance improvement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DMV: sys.dm_db_index_physical_stats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Reading Execution Plans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t>Direction: Right to left, top to bottom</a:t>
            </a:r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t>Thick arrows: More rows flowing through</a:t>
            </a:r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t>Color coding: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Black/Blue: Normal operation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Yellow triangle: Warnings</a:t>
            </a:r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t>Relative cost: Resource consumption percentages</a:t>
            </a:r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t>Focus on: Highest cost operators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Common Execution Plan Operators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t>Scans (Read everything):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Table Scan, Index Scan, Clustered Index Scan</a:t>
            </a:r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t>Seeks (Targeted read - GOOD):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Index Seek, Clustered Index Seek</a:t>
            </a:r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t>Joins: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Nested Loop (small datasets)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Hash Match (large unsorted data)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Merge Join (large sorted data)</a:t>
            </a:r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t>Key Lookup: Additional data retrieval (often costly)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Interpreting Plan Warnings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t>Yellow exclamation marks indicate: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Implicit type conversions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Missing statistics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Excessive memory grants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Spills to tempdb</a:t>
            </a:r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endParaRPr/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t>Missing Index hints (green text):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Take with caution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Evaluate cost vs. benefit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May suggest too many indexes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How to Optimize Based on Plans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t>1. Eliminate Scans → Add appropriate indexes</a:t>
            </a:r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t>2. Reduce Key Lookups → Covering indexes</a:t>
            </a:r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t>3. Avoid Sorts → Index matches ORDER BY</a:t>
            </a:r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t>4. Fix Conversions → Match data types</a:t>
            </a:r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t>5. Update Statistics → Accurate cardinality</a:t>
            </a:r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t>6. Rewrite Logic → Sometimes better than indexes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DEMO: Execution Plans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t>What we'll demonstrate: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Compare Scan vs. Seek performance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Show Key Lookup overhead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Different JOIN operators in action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Fix a slow query using execution plan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Before/After metrics (IO, time)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Clustered vs. Nonclustered Indexes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t>Clustered Index: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Determines physical row order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One per table, leaf level = actual data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Choose: Narrow, unique, static, increasing</a:t>
            </a:r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endParaRPr/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t>Nonclustered Index: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Separate structure from data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Up to 999 per table (don't!)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Leaf level = key + bookmark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Overhead on INSERT/UPDATE/DELETE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Covering Indexes with INCLUDE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24242"/>
                </a:solidFill>
              </a:defRPr>
            </a:pPr>
            <a:r>
              <a:t>Benefits: Query satisfied from index, no bookmark lookup needed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02336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24242"/>
                </a:solidFill>
                <a:latin typeface="Consolas"/>
              </a:defRPr>
            </a:pPr>
            <a:r>
              <a:t>CREATE NONCLUSTERED INDEX IX_Example</a:t>
            </a:r>
          </a:p>
          <a:p>
            <a:pPr>
              <a:defRPr sz="1200">
                <a:solidFill>
                  <a:srgbClr val="424242"/>
                </a:solidFill>
                <a:latin typeface="Consolas"/>
              </a:defRPr>
            </a:pPr>
            <a:r>
              <a:t>ON Orders (CustomerID, OrderDate)</a:t>
            </a:r>
          </a:p>
          <a:p>
            <a:pPr>
              <a:defRPr sz="1200">
                <a:solidFill>
                  <a:srgbClr val="424242"/>
                </a:solidFill>
                <a:latin typeface="Consolas"/>
              </a:defRPr>
            </a:pPr>
            <a:r>
              <a:t>INCLUDE (Amount, Status);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Indexes on Subsets of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24242"/>
                </a:solidFill>
              </a:defRPr>
            </a:pPr>
            <a:r>
              <a:t>Use for: Sparse columns, status-based filtering, current year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02336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24242"/>
                </a:solidFill>
                <a:latin typeface="Consolas"/>
              </a:defRPr>
            </a:pPr>
            <a:r>
              <a:t>CREATE NONCLUSTERED INDEX IX_ActiveOrders</a:t>
            </a:r>
          </a:p>
          <a:p>
            <a:pPr>
              <a:defRPr sz="1200">
                <a:solidFill>
                  <a:srgbClr val="424242"/>
                </a:solidFill>
                <a:latin typeface="Consolas"/>
              </a:defRPr>
            </a:pPr>
            <a:r>
              <a:t>ON Orders (OrderDate, CustomerID)</a:t>
            </a:r>
          </a:p>
          <a:p>
            <a:pPr>
              <a:defRPr sz="1200">
                <a:solidFill>
                  <a:srgbClr val="424242"/>
                </a:solidFill>
                <a:latin typeface="Consolas"/>
              </a:defRPr>
            </a:pPr>
            <a:r>
              <a:t>WHERE Status = 'Active';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DEMO: Index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t>What we'll show: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Create covering index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Eliminate Key Lookups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Filtered index benefits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Compare index sizes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Index usage statistics (DMVs)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Logical Query Processing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rPr dirty="0"/>
              <a:t>1. FROM (including JOINs)</a:t>
            </a:r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rPr dirty="0"/>
              <a:t>2. WHERE</a:t>
            </a:r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rPr dirty="0"/>
              <a:t>3. GROUP BY</a:t>
            </a:r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rPr dirty="0"/>
              <a:t>4. HAVING</a:t>
            </a:r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rPr dirty="0"/>
              <a:t>5. SELECT</a:t>
            </a:r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rPr dirty="0"/>
              <a:t>6. DISTINCT</a:t>
            </a:r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rPr dirty="0"/>
              <a:t>7. ORDER BY</a:t>
            </a:r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rPr dirty="0"/>
              <a:t>8. TOP / OFFSET-FETCH</a:t>
            </a:r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endParaRPr dirty="0"/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rPr dirty="0"/>
              <a:t>Key Point: Logical ≠ Physical execution order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Common Mistakes - Processing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24242"/>
                </a:solidFill>
              </a:defRPr>
            </a:pPr>
            <a:r>
              <a:t>Why? WHERE executes before SELECT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02336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24242"/>
                </a:solidFill>
                <a:latin typeface="Consolas"/>
              </a:defRPr>
            </a:pPr>
            <a:r>
              <a:t>-- WRONG</a:t>
            </a:r>
          </a:p>
          <a:p>
            <a:pPr>
              <a:defRPr sz="1200">
                <a:solidFill>
                  <a:srgbClr val="424242"/>
                </a:solidFill>
                <a:latin typeface="Consolas"/>
              </a:defRPr>
            </a:pPr>
            <a:r>
              <a:t>SELECT Price * Quantity AS Total</a:t>
            </a:r>
          </a:p>
          <a:p>
            <a:pPr>
              <a:defRPr sz="1200">
                <a:solidFill>
                  <a:srgbClr val="424242"/>
                </a:solidFill>
                <a:latin typeface="Consolas"/>
              </a:defRPr>
            </a:pPr>
            <a:r>
              <a:t>FROM Orders</a:t>
            </a:r>
          </a:p>
          <a:p>
            <a:pPr>
              <a:defRPr sz="1200">
                <a:solidFill>
                  <a:srgbClr val="424242"/>
                </a:solidFill>
                <a:latin typeface="Consolas"/>
              </a:defRPr>
            </a:pPr>
            <a:r>
              <a:t>WHERE Total &gt; 1000;  -- Error!</a:t>
            </a:r>
          </a:p>
          <a:p>
            <a:pPr>
              <a:defRPr sz="1200">
                <a:solidFill>
                  <a:srgbClr val="424242"/>
                </a:solidFill>
                <a:latin typeface="Consolas"/>
              </a:defRPr>
            </a:pPr>
            <a:endParaRPr/>
          </a:p>
          <a:p>
            <a:pPr>
              <a:defRPr sz="1200">
                <a:solidFill>
                  <a:srgbClr val="424242"/>
                </a:solidFill>
                <a:latin typeface="Consolas"/>
              </a:defRPr>
            </a:pPr>
            <a:r>
              <a:t>-- CORRECT</a:t>
            </a:r>
          </a:p>
          <a:p>
            <a:pPr>
              <a:defRPr sz="1200">
                <a:solidFill>
                  <a:srgbClr val="424242"/>
                </a:solidFill>
                <a:latin typeface="Consolas"/>
              </a:defRPr>
            </a:pPr>
            <a:r>
              <a:t>SELECT Price * Quantity AS Total</a:t>
            </a:r>
          </a:p>
          <a:p>
            <a:pPr>
              <a:defRPr sz="1200">
                <a:solidFill>
                  <a:srgbClr val="424242"/>
                </a:solidFill>
                <a:latin typeface="Consolas"/>
              </a:defRPr>
            </a:pPr>
            <a:r>
              <a:t>FROM Orders</a:t>
            </a:r>
          </a:p>
          <a:p>
            <a:pPr>
              <a:defRPr sz="1200">
                <a:solidFill>
                  <a:srgbClr val="424242"/>
                </a:solidFill>
                <a:latin typeface="Consolas"/>
              </a:defRPr>
            </a:pPr>
            <a:r>
              <a:t>WHERE Price * Quantity &gt; 1000;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Filter Early with WHERE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24242"/>
                </a:solidFill>
              </a:defRPr>
            </a:pPr>
            <a:r>
              <a:t>WHERE: Before aggregation (efficient) | HAVING: After aggregation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02336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24242"/>
                </a:solidFill>
                <a:latin typeface="Consolas"/>
              </a:defRPr>
            </a:pPr>
            <a:r>
              <a:t>SELECT CustomerID, COUNT(*) AS OrderCount</a:t>
            </a:r>
          </a:p>
          <a:p>
            <a:pPr>
              <a:defRPr sz="1200">
                <a:solidFill>
                  <a:srgbClr val="424242"/>
                </a:solidFill>
                <a:latin typeface="Consolas"/>
              </a:defRPr>
            </a:pPr>
            <a:r>
              <a:t>FROM Orders</a:t>
            </a:r>
          </a:p>
          <a:p>
            <a:pPr>
              <a:defRPr sz="1200">
                <a:solidFill>
                  <a:srgbClr val="424242"/>
                </a:solidFill>
                <a:latin typeface="Consolas"/>
              </a:defRPr>
            </a:pPr>
            <a:r>
              <a:t>WHERE OrderDate &gt;= '2024-01-01'  -- Filter early</a:t>
            </a:r>
          </a:p>
          <a:p>
            <a:pPr>
              <a:defRPr sz="1200">
                <a:solidFill>
                  <a:srgbClr val="424242"/>
                </a:solidFill>
                <a:latin typeface="Consolas"/>
              </a:defRPr>
            </a:pPr>
            <a:r>
              <a:t>GROUP BY CustomerID</a:t>
            </a:r>
          </a:p>
          <a:p>
            <a:pPr>
              <a:defRPr sz="1200">
                <a:solidFill>
                  <a:srgbClr val="424242"/>
                </a:solidFill>
                <a:latin typeface="Consolas"/>
              </a:defRPr>
            </a:pPr>
            <a:r>
              <a:t>HAVING COUNT(*) &gt; 5;  -- Filter groups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Hidden Performance Killer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24242"/>
                </a:solidFill>
              </a:defRPr>
            </a:pPr>
            <a:r>
              <a:t>Problem: Auto-conversion prevents index usage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02336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24242"/>
                </a:solidFill>
                <a:latin typeface="Consolas"/>
              </a:defRPr>
            </a:pPr>
            <a:r>
              <a:t>-- BAD: NVARCHAR literal on VARCHAR column</a:t>
            </a:r>
          </a:p>
          <a:p>
            <a:pPr>
              <a:defRPr sz="1200">
                <a:solidFill>
                  <a:srgbClr val="424242"/>
                </a:solidFill>
                <a:latin typeface="Consolas"/>
              </a:defRPr>
            </a:pPr>
            <a:r>
              <a:t>WHERE Username = N'john'  -- Index scan</a:t>
            </a:r>
          </a:p>
          <a:p>
            <a:pPr>
              <a:defRPr sz="1200">
                <a:solidFill>
                  <a:srgbClr val="424242"/>
                </a:solidFill>
                <a:latin typeface="Consolas"/>
              </a:defRPr>
            </a:pPr>
            <a:endParaRPr/>
          </a:p>
          <a:p>
            <a:pPr>
              <a:defRPr sz="1200">
                <a:solidFill>
                  <a:srgbClr val="424242"/>
                </a:solidFill>
                <a:latin typeface="Consolas"/>
              </a:defRPr>
            </a:pPr>
            <a:r>
              <a:t>-- GOOD: Matching types</a:t>
            </a:r>
          </a:p>
          <a:p>
            <a:pPr>
              <a:defRPr sz="1200">
                <a:solidFill>
                  <a:srgbClr val="424242"/>
                </a:solidFill>
                <a:latin typeface="Consolas"/>
              </a:defRPr>
            </a:pPr>
            <a:r>
              <a:t>WHERE Username = 'john'   -- Index seek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Where Conversions Hide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t>1. VARCHAR vs NVARCHAR: N prefix on literals</a:t>
            </a:r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t>2. Numeric precision: INT vs DECIMAL/FLOAT</a:t>
            </a:r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t>3. JOIN mismatches: INT vs BIGINT</a:t>
            </a:r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t>4. Date functions: CONVERT(DATE, column)</a:t>
            </a:r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endParaRPr/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t>Impact: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Index seeks become scans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CPU overhead, inaccurate cardinality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Potential query timeouts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DEMO: Implicit Conversions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t>What we'll demonstrate: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Show conversion warning in plan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Performance comparison: with vs without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Fix JOIN type mismatch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DMV query to find conversions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Before/After logical reads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Worst Patterns That Kill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t>1. Functions on columns in WHERE</a:t>
            </a:r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t>2. Leading wildcards in LIKE</a:t>
            </a:r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t>3. OR across different columns</a:t>
            </a:r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t>4. RBAR (Row-By-Agonizing-Row)</a:t>
            </a:r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t>5. SELECT *</a:t>
            </a:r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t>6. NOT IN with NULLs</a:t>
            </a:r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t>7. Correlated subqueries in SELECT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Anti-Pattern: Functions in WHERE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24242"/>
                </a:solidFill>
              </a:defRPr>
            </a:pPr>
            <a:r>
              <a:t>Result: Index Seek instead of Scan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02336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24242"/>
                </a:solidFill>
                <a:latin typeface="Consolas"/>
              </a:defRPr>
            </a:pPr>
            <a:r>
              <a:t>-- BAD</a:t>
            </a:r>
          </a:p>
          <a:p>
            <a:pPr>
              <a:defRPr sz="1200">
                <a:solidFill>
                  <a:srgbClr val="424242"/>
                </a:solidFill>
                <a:latin typeface="Consolas"/>
              </a:defRPr>
            </a:pPr>
            <a:r>
              <a:t>WHERE YEAR(OrderDate) = 2024</a:t>
            </a:r>
          </a:p>
          <a:p>
            <a:pPr>
              <a:defRPr sz="1200">
                <a:solidFill>
                  <a:srgbClr val="424242"/>
                </a:solidFill>
                <a:latin typeface="Consolas"/>
              </a:defRPr>
            </a:pPr>
            <a:r>
              <a:t>WHERE UPPER(LastName) = 'SMITH'</a:t>
            </a:r>
          </a:p>
          <a:p>
            <a:pPr>
              <a:defRPr sz="1200">
                <a:solidFill>
                  <a:srgbClr val="424242"/>
                </a:solidFill>
                <a:latin typeface="Consolas"/>
              </a:defRPr>
            </a:pPr>
            <a:endParaRPr/>
          </a:p>
          <a:p>
            <a:pPr>
              <a:defRPr sz="1200">
                <a:solidFill>
                  <a:srgbClr val="424242"/>
                </a:solidFill>
                <a:latin typeface="Consolas"/>
              </a:defRPr>
            </a:pPr>
            <a:r>
              <a:t>-- GOOD (Sargable)</a:t>
            </a:r>
          </a:p>
          <a:p>
            <a:pPr>
              <a:defRPr sz="1200">
                <a:solidFill>
                  <a:srgbClr val="424242"/>
                </a:solidFill>
                <a:latin typeface="Consolas"/>
              </a:defRPr>
            </a:pPr>
            <a:r>
              <a:t>WHERE OrderDate &gt;= '2024-01-01' </a:t>
            </a:r>
          </a:p>
          <a:p>
            <a:pPr>
              <a:defRPr sz="1200">
                <a:solidFill>
                  <a:srgbClr val="424242"/>
                </a:solidFill>
                <a:latin typeface="Consolas"/>
              </a:defRPr>
            </a:pPr>
            <a:r>
              <a:t>  AND OrderDate &lt; '2025-01-01'</a:t>
            </a:r>
          </a:p>
          <a:p>
            <a:pPr>
              <a:defRPr sz="1200">
                <a:solidFill>
                  <a:srgbClr val="424242"/>
                </a:solidFill>
                <a:latin typeface="Consolas"/>
              </a:defRPr>
            </a:pPr>
            <a:r>
              <a:t>WHERE LastName = 'Smith'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Anti-Pattern: Row-By-Agonizing-Row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24242"/>
                </a:solidFill>
              </a:defRPr>
            </a:pPr>
            <a:r>
              <a:t>Set-based operations are orders of magnitude faster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02336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24242"/>
                </a:solidFill>
                <a:latin typeface="Consolas"/>
              </a:defRPr>
            </a:pPr>
            <a:r>
              <a:t>-- BAD: Cursors</a:t>
            </a:r>
          </a:p>
          <a:p>
            <a:pPr>
              <a:defRPr sz="1200">
                <a:solidFill>
                  <a:srgbClr val="424242"/>
                </a:solidFill>
                <a:latin typeface="Consolas"/>
              </a:defRPr>
            </a:pPr>
            <a:r>
              <a:t>DECLARE cur CURSOR FOR SELECT CustomerID...</a:t>
            </a:r>
          </a:p>
          <a:p>
            <a:pPr>
              <a:defRPr sz="1200">
                <a:solidFill>
                  <a:srgbClr val="424242"/>
                </a:solidFill>
                <a:latin typeface="Consolas"/>
              </a:defRPr>
            </a:pPr>
            <a:r>
              <a:t>WHILE @@FETCH_STATUS = 0</a:t>
            </a:r>
          </a:p>
          <a:p>
            <a:pPr>
              <a:defRPr sz="1200">
                <a:solidFill>
                  <a:srgbClr val="424242"/>
                </a:solidFill>
                <a:latin typeface="Consolas"/>
              </a:defRPr>
            </a:pPr>
            <a:r>
              <a:t>BEGIN</a:t>
            </a:r>
          </a:p>
          <a:p>
            <a:pPr>
              <a:defRPr sz="1200">
                <a:solidFill>
                  <a:srgbClr val="424242"/>
                </a:solidFill>
                <a:latin typeface="Consolas"/>
              </a:defRPr>
            </a:pPr>
            <a:r>
              <a:t>    UPDATE Orders SET Status = 'Processed' ...</a:t>
            </a:r>
          </a:p>
          <a:p>
            <a:pPr>
              <a:defRPr sz="1200">
                <a:solidFill>
                  <a:srgbClr val="424242"/>
                </a:solidFill>
                <a:latin typeface="Consolas"/>
              </a:defRPr>
            </a:pPr>
            <a:r>
              <a:t>END</a:t>
            </a:r>
          </a:p>
          <a:p>
            <a:pPr>
              <a:defRPr sz="1200">
                <a:solidFill>
                  <a:srgbClr val="424242"/>
                </a:solidFill>
                <a:latin typeface="Consolas"/>
              </a:defRPr>
            </a:pPr>
            <a:endParaRPr/>
          </a:p>
          <a:p>
            <a:pPr>
              <a:defRPr sz="1200">
                <a:solidFill>
                  <a:srgbClr val="424242"/>
                </a:solidFill>
                <a:latin typeface="Consolas"/>
              </a:defRPr>
            </a:pPr>
            <a:r>
              <a:t>-- GOOD: Set-based</a:t>
            </a:r>
          </a:p>
          <a:p>
            <a:pPr>
              <a:defRPr sz="1200">
                <a:solidFill>
                  <a:srgbClr val="424242"/>
                </a:solidFill>
                <a:latin typeface="Consolas"/>
              </a:defRPr>
            </a:pPr>
            <a:r>
              <a:t>UPDATE Orders SET Status = 'Processed'</a:t>
            </a:r>
          </a:p>
          <a:p>
            <a:pPr>
              <a:defRPr sz="1200">
                <a:solidFill>
                  <a:srgbClr val="424242"/>
                </a:solidFill>
                <a:latin typeface="Consolas"/>
              </a:defRPr>
            </a:pPr>
            <a:r>
              <a:t>FROM Orders O</a:t>
            </a:r>
          </a:p>
          <a:p>
            <a:pPr>
              <a:defRPr sz="1200">
                <a:solidFill>
                  <a:srgbClr val="424242"/>
                </a:solidFill>
                <a:latin typeface="Consolas"/>
              </a:defRPr>
            </a:pPr>
            <a:r>
              <a:t>JOIN Customers C ON O.CustomerID = C.CustomerID;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DEMO: Anti-Patterns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t>What we'll show: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Function in WHERE: Before/After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RBAR vs Set-based comparison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SELECT * vs specific columns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NOT IN vs NOT EXISTS with NULLs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Execution time differences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Query Best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t>1. Filter early and often</a:t>
            </a:r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t>2. EXISTS vs IN (EXISTS stops at first match)</a:t>
            </a:r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t>3. CTEs for readability</a:t>
            </a:r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t>4. Window functions vs self-joins</a:t>
            </a:r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t>5. CROSS APPLY for top N per group</a:t>
            </a:r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t>6. Batch updates for large data</a:t>
            </a:r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t>7. Covering indexes with INCLUDE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Best Practice: Common Table Expressions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24242"/>
                </a:solidFill>
              </a:defRPr>
            </a:pPr>
            <a:r>
              <a:t>Benefits: Readable, maintainable, easier debugging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02336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24242"/>
                </a:solidFill>
                <a:latin typeface="Consolas"/>
              </a:defRPr>
            </a:pPr>
            <a:r>
              <a:t>WITH ActiveCustomers AS (</a:t>
            </a:r>
          </a:p>
          <a:p>
            <a:pPr>
              <a:defRPr sz="1200">
                <a:solidFill>
                  <a:srgbClr val="424242"/>
                </a:solidFill>
                <a:latin typeface="Consolas"/>
              </a:defRPr>
            </a:pPr>
            <a:r>
              <a:t>    SELECT CustomerID, CustomerName</a:t>
            </a:r>
          </a:p>
          <a:p>
            <a:pPr>
              <a:defRPr sz="1200">
                <a:solidFill>
                  <a:srgbClr val="424242"/>
                </a:solidFill>
                <a:latin typeface="Consolas"/>
              </a:defRPr>
            </a:pPr>
            <a:r>
              <a:t>    FROM Customers WHERE Status = 'Active'</a:t>
            </a:r>
          </a:p>
          <a:p>
            <a:pPr>
              <a:defRPr sz="1200">
                <a:solidFill>
                  <a:srgbClr val="424242"/>
                </a:solidFill>
                <a:latin typeface="Consolas"/>
              </a:defRPr>
            </a:pPr>
            <a:r>
              <a:t>),</a:t>
            </a:r>
          </a:p>
          <a:p>
            <a:pPr>
              <a:defRPr sz="1200">
                <a:solidFill>
                  <a:srgbClr val="424242"/>
                </a:solidFill>
                <a:latin typeface="Consolas"/>
              </a:defRPr>
            </a:pPr>
            <a:r>
              <a:t>RecentOrders AS (</a:t>
            </a:r>
          </a:p>
          <a:p>
            <a:pPr>
              <a:defRPr sz="1200">
                <a:solidFill>
                  <a:srgbClr val="424242"/>
                </a:solidFill>
                <a:latin typeface="Consolas"/>
              </a:defRPr>
            </a:pPr>
            <a:r>
              <a:t>    SELECT CustomerID, OrderDate, Amount</a:t>
            </a:r>
          </a:p>
          <a:p>
            <a:pPr>
              <a:defRPr sz="1200">
                <a:solidFill>
                  <a:srgbClr val="424242"/>
                </a:solidFill>
                <a:latin typeface="Consolas"/>
              </a:defRPr>
            </a:pPr>
            <a:r>
              <a:t>    FROM Orders</a:t>
            </a:r>
          </a:p>
          <a:p>
            <a:pPr>
              <a:defRPr sz="1200">
                <a:solidFill>
                  <a:srgbClr val="424242"/>
                </a:solidFill>
                <a:latin typeface="Consolas"/>
              </a:defRPr>
            </a:pPr>
            <a:r>
              <a:t>    WHERE OrderDate &gt;= DATEADD(MONTH, -3, GETDATE())</a:t>
            </a:r>
          </a:p>
          <a:p>
            <a:pPr>
              <a:defRPr sz="1200">
                <a:solidFill>
                  <a:srgbClr val="424242"/>
                </a:solidFill>
                <a:latin typeface="Consolas"/>
              </a:defRPr>
            </a:pPr>
            <a:r>
              <a:t>)</a:t>
            </a:r>
          </a:p>
          <a:p>
            <a:pPr>
              <a:defRPr sz="1200">
                <a:solidFill>
                  <a:srgbClr val="424242"/>
                </a:solidFill>
                <a:latin typeface="Consolas"/>
              </a:defRPr>
            </a:pPr>
            <a:r>
              <a:t>SELECT AC.CustomerName, COUNT(*) AS OrderCount</a:t>
            </a:r>
          </a:p>
          <a:p>
            <a:pPr>
              <a:defRPr sz="1200">
                <a:solidFill>
                  <a:srgbClr val="424242"/>
                </a:solidFill>
                <a:latin typeface="Consolas"/>
              </a:defRPr>
            </a:pPr>
            <a:r>
              <a:t>FROM ActiveCustomers AC</a:t>
            </a:r>
          </a:p>
          <a:p>
            <a:pPr>
              <a:defRPr sz="1200">
                <a:solidFill>
                  <a:srgbClr val="424242"/>
                </a:solidFill>
                <a:latin typeface="Consolas"/>
              </a:defRPr>
            </a:pPr>
            <a:r>
              <a:t>JOIN RecentOrders RO ON AC.CustomerID = RO.CustomerID</a:t>
            </a:r>
          </a:p>
          <a:p>
            <a:pPr>
              <a:defRPr sz="1200">
                <a:solidFill>
                  <a:srgbClr val="424242"/>
                </a:solidFill>
                <a:latin typeface="Consolas"/>
              </a:defRPr>
            </a:pPr>
            <a:r>
              <a:t>GROUP BY AC.CustomerName;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Best Practice: Window Functions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24242"/>
                </a:solidFill>
              </a:defRPr>
            </a:pPr>
            <a:r>
              <a:t>Single pass vs multiple self-joins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02336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24242"/>
                </a:solidFill>
                <a:latin typeface="Consolas"/>
              </a:defRPr>
            </a:pPr>
            <a:r>
              <a:t>-- OLD (Slow)</a:t>
            </a:r>
          </a:p>
          <a:p>
            <a:pPr>
              <a:defRPr sz="1200">
                <a:solidFill>
                  <a:srgbClr val="424242"/>
                </a:solidFill>
                <a:latin typeface="Consolas"/>
              </a:defRPr>
            </a:pPr>
            <a:r>
              <a:t>SELECT OrderDate, </a:t>
            </a:r>
          </a:p>
          <a:p>
            <a:pPr>
              <a:defRPr sz="1200">
                <a:solidFill>
                  <a:srgbClr val="424242"/>
                </a:solidFill>
                <a:latin typeface="Consolas"/>
              </a:defRPr>
            </a:pPr>
            <a:r>
              <a:t>  (SELECT SUM(Amount) FROM Orders O2 </a:t>
            </a:r>
          </a:p>
          <a:p>
            <a:pPr>
              <a:defRPr sz="1200">
                <a:solidFill>
                  <a:srgbClr val="424242"/>
                </a:solidFill>
                <a:latin typeface="Consolas"/>
              </a:defRPr>
            </a:pPr>
            <a:r>
              <a:t>   WHERE O2.OrderDate &lt;= O1.OrderDate) AS RunningTotal</a:t>
            </a:r>
          </a:p>
          <a:p>
            <a:pPr>
              <a:defRPr sz="1200">
                <a:solidFill>
                  <a:srgbClr val="424242"/>
                </a:solidFill>
                <a:latin typeface="Consolas"/>
              </a:defRPr>
            </a:pPr>
            <a:r>
              <a:t>FROM Orders O1;</a:t>
            </a:r>
          </a:p>
          <a:p>
            <a:pPr>
              <a:defRPr sz="1200">
                <a:solidFill>
                  <a:srgbClr val="424242"/>
                </a:solidFill>
                <a:latin typeface="Consolas"/>
              </a:defRPr>
            </a:pPr>
            <a:endParaRPr/>
          </a:p>
          <a:p>
            <a:pPr>
              <a:defRPr sz="1200">
                <a:solidFill>
                  <a:srgbClr val="424242"/>
                </a:solidFill>
                <a:latin typeface="Consolas"/>
              </a:defRPr>
            </a:pPr>
            <a:r>
              <a:t>-- BETTER (Fast)</a:t>
            </a:r>
          </a:p>
          <a:p>
            <a:pPr>
              <a:defRPr sz="1200">
                <a:solidFill>
                  <a:srgbClr val="424242"/>
                </a:solidFill>
                <a:latin typeface="Consolas"/>
              </a:defRPr>
            </a:pPr>
            <a:r>
              <a:t>SELECT OrderDate,</a:t>
            </a:r>
          </a:p>
          <a:p>
            <a:pPr>
              <a:defRPr sz="1200">
                <a:solidFill>
                  <a:srgbClr val="424242"/>
                </a:solidFill>
                <a:latin typeface="Consolas"/>
              </a:defRPr>
            </a:pPr>
            <a:r>
              <a:t>  SUM(Amount) OVER (ORDER BY OrderDate </a:t>
            </a:r>
          </a:p>
          <a:p>
            <a:pPr>
              <a:defRPr sz="1200">
                <a:solidFill>
                  <a:srgbClr val="424242"/>
                </a:solidFill>
                <a:latin typeface="Consolas"/>
              </a:defRPr>
            </a:pPr>
            <a:r>
              <a:t>    ROWS UNBOUNDED PRECEDING) AS RunningTotal</a:t>
            </a:r>
          </a:p>
          <a:p>
            <a:pPr>
              <a:defRPr sz="1200">
                <a:solidFill>
                  <a:srgbClr val="424242"/>
                </a:solidFill>
                <a:latin typeface="Consolas"/>
              </a:defRPr>
            </a:pPr>
            <a:r>
              <a:t>FROM Orders;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DEMO: Best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t>What we'll demonstrate: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CTE readability example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Window function performance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CROSS APPLY for top N per group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Batch update vs single update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Covering index benefits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Table-Valued Functions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t>Inline TVF: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Excellent performance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Fully optimized by query processor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Accurate cardinality, supports parallelism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Use: Almost always!</a:t>
            </a:r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endParaRPr/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t>Multi-Statement TVF: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Poor performance (black box)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Fixed cardinality estimate (100 rows)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No parallelism, no statistics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Use: Only if procedural logic required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Right Way: Inline TVFs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24242"/>
                </a:solidFill>
              </a:defRPr>
            </a:pPr>
            <a:r>
              <a:t>Acts like a parameterized view - optimizer can see through 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02336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24242"/>
                </a:solidFill>
                <a:latin typeface="Consolas"/>
              </a:defRPr>
            </a:pPr>
            <a:r>
              <a:t>CREATE FUNCTION dbo.GetCustomerOrders(@CustomerID INT)</a:t>
            </a:r>
          </a:p>
          <a:p>
            <a:pPr>
              <a:defRPr sz="1200">
                <a:solidFill>
                  <a:srgbClr val="424242"/>
                </a:solidFill>
                <a:latin typeface="Consolas"/>
              </a:defRPr>
            </a:pPr>
            <a:r>
              <a:t>RETURNS TABLE</a:t>
            </a:r>
          </a:p>
          <a:p>
            <a:pPr>
              <a:defRPr sz="1200">
                <a:solidFill>
                  <a:srgbClr val="424242"/>
                </a:solidFill>
                <a:latin typeface="Consolas"/>
              </a:defRPr>
            </a:pPr>
            <a:r>
              <a:t>AS</a:t>
            </a:r>
          </a:p>
          <a:p>
            <a:pPr>
              <a:defRPr sz="1200">
                <a:solidFill>
                  <a:srgbClr val="424242"/>
                </a:solidFill>
                <a:latin typeface="Consolas"/>
              </a:defRPr>
            </a:pPr>
            <a:r>
              <a:t>RETURN</a:t>
            </a:r>
          </a:p>
          <a:p>
            <a:pPr>
              <a:defRPr sz="1200">
                <a:solidFill>
                  <a:srgbClr val="424242"/>
                </a:solidFill>
                <a:latin typeface="Consolas"/>
              </a:defRPr>
            </a:pPr>
            <a:r>
              <a:t>(</a:t>
            </a:r>
          </a:p>
          <a:p>
            <a:pPr>
              <a:defRPr sz="1200">
                <a:solidFill>
                  <a:srgbClr val="424242"/>
                </a:solidFill>
                <a:latin typeface="Consolas"/>
              </a:defRPr>
            </a:pPr>
            <a:r>
              <a:t>    SELECT OrderID, OrderDate, Amount</a:t>
            </a:r>
          </a:p>
          <a:p>
            <a:pPr>
              <a:defRPr sz="1200">
                <a:solidFill>
                  <a:srgbClr val="424242"/>
                </a:solidFill>
                <a:latin typeface="Consolas"/>
              </a:defRPr>
            </a:pPr>
            <a:r>
              <a:t>    FROM Orders</a:t>
            </a:r>
          </a:p>
          <a:p>
            <a:pPr>
              <a:defRPr sz="1200">
                <a:solidFill>
                  <a:srgbClr val="424242"/>
                </a:solidFill>
                <a:latin typeface="Consolas"/>
              </a:defRPr>
            </a:pPr>
            <a:r>
              <a:t>    WHERE CustomerID = @CustomerID</a:t>
            </a:r>
          </a:p>
          <a:p>
            <a:pPr>
              <a:defRPr sz="1200">
                <a:solidFill>
                  <a:srgbClr val="424242"/>
                </a:solidFill>
                <a:latin typeface="Consolas"/>
              </a:defRPr>
            </a:pPr>
            <a:r>
              <a:t>);</a:t>
            </a:r>
          </a:p>
          <a:p>
            <a:pPr>
              <a:defRPr sz="1200">
                <a:solidFill>
                  <a:srgbClr val="424242"/>
                </a:solidFill>
                <a:latin typeface="Consolas"/>
              </a:defRPr>
            </a:pPr>
            <a:endParaRPr/>
          </a:p>
          <a:p>
            <a:pPr>
              <a:defRPr sz="1200">
                <a:solidFill>
                  <a:srgbClr val="424242"/>
                </a:solidFill>
                <a:latin typeface="Consolas"/>
              </a:defRPr>
            </a:pPr>
            <a:r>
              <a:t>-- Usage</a:t>
            </a:r>
          </a:p>
          <a:p>
            <a:pPr>
              <a:defRPr sz="1200">
                <a:solidFill>
                  <a:srgbClr val="424242"/>
                </a:solidFill>
                <a:latin typeface="Consolas"/>
              </a:defRPr>
            </a:pPr>
            <a:r>
              <a:t>SELECT * FROM dbo.GetCustomerOrders(123);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DEMO: Table-Valued Functions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t>What we'll show: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Create inline TVF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Create multi-statement TVF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Performance comparison (same logic)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Execution plan differences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Scalar UDF anti-pattern (avoid!)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is Parameter Sniffing?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t>SQL Server behavior: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Compiles proc with first parameter values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Plan cached and reused for all executions</a:t>
            </a:r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endParaRPr/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t>The Good: Efficient plan reuse</a:t>
            </a:r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t>The Bad: Plan optimal for first, terrible for others</a:t>
            </a:r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endParaRPr/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t>Example: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First: @Status = 'Pending' (1000 rows) → Scan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Second: @Status = 'Cancelled' (3 rows) → Uses Scan!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Detecting Parameter Sniffing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t>Symptoms: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Same procedure fast sometimes, slow others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Performance varies with parameter values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Same plan for different row counts</a:t>
            </a:r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endParaRPr/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t>Detection methods: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Execution plan: same shape for different params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DMV: sys.dm_exec_query_stats (variance)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Extended Events: parameter_sensitive_plan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Parameter Sniffing Solutions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24242"/>
                </a:solidFill>
              </a:defRPr>
            </a:pPr>
            <a:r>
              <a:t>Choose based on your data distribution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402336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24242"/>
                </a:solidFill>
                <a:latin typeface="Consolas"/>
              </a:defRPr>
            </a:pPr>
            <a:r>
              <a:t>-- 1. OPTIMIZE FOR hint</a:t>
            </a:r>
          </a:p>
          <a:p>
            <a:pPr>
              <a:defRPr sz="1200">
                <a:solidFill>
                  <a:srgbClr val="424242"/>
                </a:solidFill>
                <a:latin typeface="Consolas"/>
              </a:defRPr>
            </a:pPr>
            <a:r>
              <a:t>OPTION (OPTIMIZE FOR (@Status = 'Pending'))</a:t>
            </a:r>
          </a:p>
          <a:p>
            <a:pPr>
              <a:defRPr sz="1200">
                <a:solidFill>
                  <a:srgbClr val="424242"/>
                </a:solidFill>
                <a:latin typeface="Consolas"/>
              </a:defRPr>
            </a:pPr>
            <a:r>
              <a:t>-- Use when: One value is 90%+ of calls</a:t>
            </a:r>
          </a:p>
          <a:p>
            <a:pPr>
              <a:defRPr sz="1200">
                <a:solidFill>
                  <a:srgbClr val="424242"/>
                </a:solidFill>
                <a:latin typeface="Consolas"/>
              </a:defRPr>
            </a:pPr>
            <a:endParaRPr/>
          </a:p>
          <a:p>
            <a:pPr>
              <a:defRPr sz="1200">
                <a:solidFill>
                  <a:srgbClr val="424242"/>
                </a:solidFill>
                <a:latin typeface="Consolas"/>
              </a:defRPr>
            </a:pPr>
            <a:r>
              <a:t>-- 2. OPTIMIZE FOR UNKNOWN</a:t>
            </a:r>
          </a:p>
          <a:p>
            <a:pPr>
              <a:defRPr sz="1200">
                <a:solidFill>
                  <a:srgbClr val="424242"/>
                </a:solidFill>
                <a:latin typeface="Consolas"/>
              </a:defRPr>
            </a:pPr>
            <a:r>
              <a:t>OPTION (OPTIMIZE FOR UNKNOWN)</a:t>
            </a:r>
          </a:p>
          <a:p>
            <a:pPr>
              <a:defRPr sz="1200">
                <a:solidFill>
                  <a:srgbClr val="424242"/>
                </a:solidFill>
                <a:latin typeface="Consolas"/>
              </a:defRPr>
            </a:pPr>
            <a:r>
              <a:t>-- Use when: Even distribution of values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Parameter Sniffing Solutions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rPr dirty="0"/>
              <a:t>3. RECOMPILE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rPr dirty="0"/>
              <a:t>WITH RECOMPILE or OPTION (RECOMPILE)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rPr dirty="0"/>
              <a:t>Use: High sensitivity, low frequency</a:t>
            </a:r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endParaRPr dirty="0"/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rPr dirty="0"/>
              <a:t>4. Local variable copy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rPr dirty="0"/>
              <a:t>DECLARE @Local = @Parameter</a:t>
            </a:r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endParaRPr dirty="0"/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rPr dirty="0"/>
              <a:t>5. Dynamic SQL (fresh plan each time)</a:t>
            </a:r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rPr dirty="0"/>
              <a:t>6. Multiple procedures (branch logic)</a:t>
            </a:r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rPr dirty="0"/>
              <a:t>7. SQL 2022: Parameter Sensitive Plans (PSP) - Automatic!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Choosing the Right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rPr dirty="0"/>
              <a:t>Decision Matrix: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rPr dirty="0"/>
              <a:t>One value dominates (90%+) → OPTIMIZE FOR value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rPr dirty="0"/>
              <a:t>Even distribution → OPTIMIZE FOR UNKNOWN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rPr dirty="0"/>
              <a:t>Extreme sensitivity → RECOMPILE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rPr dirty="0"/>
              <a:t>Ad-hoc reporting → Dynamic SQL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rPr dirty="0"/>
              <a:t>SQL Server 2022+ → Enable PSP</a:t>
            </a:r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endParaRPr dirty="0"/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rPr dirty="0"/>
              <a:t>SQL 2022 PSP: Automatically detects and creates multiple plans!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DEMO: Parameter Sniffing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t>What we'll demonstrate: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Show problem: Same plan, different data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OPTIMIZE FOR solution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OPTIMIZE FOR UNKNOWN comparison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RECOMPILE overhead measurement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Performance metrics comparison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Key Performance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t>Always monitor: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Logical reads (SET STATISTICS IO)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CPU time vs Elapsed time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Execution plan warnings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Index fragmentation percentage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Plan cache reuse</a:t>
            </a:r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endParaRPr/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t>Essential DMVs: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sys.dm_db_index_physical_stats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sys.dm_exec_query_stats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sys.dm_db_index_usage_stats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Common Interview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t>1. When use clustered vs nonclustered index?</a:t>
            </a:r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t>2. How identify a missing index?</a:t>
            </a:r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t>3. Difference between REBUILD and REORGANIZE?</a:t>
            </a:r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t>4. How implicit conversions affect performance?</a:t>
            </a:r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t>5. When use a filtered index?</a:t>
            </a:r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t>6. What is parameter sniffing and solutions?</a:t>
            </a:r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t>7. What makes a query 'sargable'?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t>✓ Monitor fragmentation - Rebuild &gt; 30%, Reorganize 10-30%</a:t>
            </a:r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t>✓ Read execution plans - Focus on scans, lookups, warnings</a:t>
            </a:r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t>✓ Use covering indexes - INCLUDE for non-key columns</a:t>
            </a:r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t>✓ Filter early - WHERE before joins</a:t>
            </a:r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t>✓ Avoid functions on columns - Use sargable predicates</a:t>
            </a:r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t>✓ Prefer inline TVFs - Never scalar UDFs</a:t>
            </a:r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t>✓ Match data types - Prevent implicit conversions</a:t>
            </a:r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t>✓ Handle parameter sniffing - Choose appropriate solution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Tools and Resources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t>Tools: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SQL Server Management Studio (SSMS)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Extended Events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Database Tuning Advisor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Query Store (SQL 2016+)</a:t>
            </a:r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endParaRPr/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t>Documentation: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Microsoft SQL Server Docs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Execution Plan Reference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Index Design Guide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Hands-On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t>Demo Code Repository: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All demo scripts available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9 comprehensive SQL files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Sample database creation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Performance comparison examples</a:t>
            </a:r>
          </a:p>
          <a:p>
            <a:pPr lvl="1">
              <a:spcBef>
                <a:spcPts val="600"/>
              </a:spcBef>
              <a:defRPr sz="1400">
                <a:solidFill>
                  <a:srgbClr val="424242"/>
                </a:solidFill>
              </a:defRPr>
            </a:pPr>
            <a:r>
              <a:t>README with setup instructions</a:t>
            </a:r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endParaRPr/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t>Database: PerformanceDemo</a:t>
            </a:r>
          </a:p>
          <a:p>
            <a:pPr>
              <a:spcBef>
                <a:spcPts val="600"/>
              </a:spcBef>
              <a:defRPr sz="1600">
                <a:solidFill>
                  <a:srgbClr val="424242"/>
                </a:solidFill>
              </a:defRPr>
            </a:pPr>
            <a:r>
              <a:t>Files: 01-09 covering all topics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4B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22860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84048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Open Discussion • Real-World Scenarios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6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18288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Performance optimization is an ongoing process: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Monitor • Test • Update Statistics • Review Plans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endParaRPr/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The best optimization solves YOUR specific problem!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1063</TotalTime>
  <Words>2192</Words>
  <Application>Microsoft Office PowerPoint</Application>
  <PresentationFormat>On-screen Show (4:3)</PresentationFormat>
  <Paragraphs>413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Alberto Turelli</cp:lastModifiedBy>
  <cp:revision>2</cp:revision>
  <dcterms:created xsi:type="dcterms:W3CDTF">2013-01-27T09:14:16Z</dcterms:created>
  <dcterms:modified xsi:type="dcterms:W3CDTF">2026-09-04T10:29:52Z</dcterms:modified>
  <cp:category/>
</cp:coreProperties>
</file>